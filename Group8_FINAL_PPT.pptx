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Rating Distribution — 60.2% are 5-star (J-Curve Bias)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6E4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1★</c:v>
                  </c:pt>
                  <c:pt idx="1">
                    <c:v>2★</c:v>
                  </c:pt>
                  <c:pt idx="2">
                    <c:v>3★</c:v>
                  </c:pt>
                  <c:pt idx="3">
                    <c:v>4★</c:v>
                  </c:pt>
                  <c:pt idx="4">
                    <c:v>5★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620</c:v>
                </c:pt>
                <c:pt idx="1">
                  <c:v>480</c:v>
                </c:pt>
                <c:pt idx="2">
                  <c:v>960</c:v>
                </c:pt>
                <c:pt idx="3">
                  <c:v>4924</c:v>
                </c:pt>
                <c:pt idx="4">
                  <c:v>13016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02920" y="2267712"/>
            <a:ext cx="566928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4231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Popularity-Based · Item-Based CF · User-Based CF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944368"/>
            <a:ext cx="5760720" cy="1737360"/>
          </a:xfrm>
          <a:prstGeom prst="rect">
            <a:avLst/>
          </a:prstGeom>
          <a:solidFill>
            <a:srgbClr val="0F1E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063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—  TBS EDUCATION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419856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MIR Otmane  •  SAVOYE Raphael  •  MOUMNI Youssef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Course  |  Academic Year 2025–2026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2834640"/>
            <a:ext cx="2423160" cy="621792"/>
          </a:xfrm>
          <a:prstGeom prst="rect">
            <a:avLst/>
          </a:prstGeom>
          <a:solidFill>
            <a:srgbClr val="2E86AB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638544" y="289864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17536" y="301752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3593592"/>
            <a:ext cx="2423160" cy="621792"/>
          </a:xfrm>
          <a:prstGeom prst="rect">
            <a:avLst/>
          </a:prstGeom>
          <a:solidFill>
            <a:srgbClr val="2E86AB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38544" y="36576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717536" y="377647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4352544"/>
            <a:ext cx="2423160" cy="621792"/>
          </a:xfrm>
          <a:prstGeom prst="rect">
            <a:avLst/>
          </a:prstGeom>
          <a:solidFill>
            <a:srgbClr val="2E86AB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38544" y="441655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17536" y="453542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7548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11556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0515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3167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Amazon needs a recommender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82496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82496"/>
            <a:ext cx="47548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79222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17282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1993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Amazon Beauty reviews analysed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59152"/>
            <a:ext cx="47548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24688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24048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" y="26700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sparsity, rating matrix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35808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35808"/>
            <a:ext cx="47548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314553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30815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Popularity-Based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" y="33467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scoring — cold-start solution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12464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12464"/>
            <a:ext cx="47548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" y="382219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" y="37581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CF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" y="40233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— Amazon's approach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389120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389120"/>
            <a:ext cx="47548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449884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" y="44348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 CF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41248" y="47000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neighbour recommendations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005840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005840"/>
            <a:ext cx="47548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111556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21808" y="10515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Demo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321808" y="13167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real-time recommendations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1682496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1682496"/>
            <a:ext cx="47548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179222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21808" y="17282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321808" y="1993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across all 3 approaches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2359152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2359152"/>
            <a:ext cx="47548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4773168" y="24688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21808" y="24048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321808" y="26700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actionable insights for Amazon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3035808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3035808"/>
            <a:ext cx="47548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4773168" y="314553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321808" y="30815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321808" y="33467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Q&amp;A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54880" y="3712464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3712464"/>
            <a:ext cx="47548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6" name="Text 54"/>
          <p:cNvSpPr/>
          <p:nvPr/>
        </p:nvSpPr>
        <p:spPr>
          <a:xfrm>
            <a:off x="4773168" y="382219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321808" y="37581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Woman Scientist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5321808" y="40233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Fei-Fei Li — ImageNet creator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//  BUSINESS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875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of Choice Overload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527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sells 350+ million products. Without personalisation, finding the right product is impossible.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2743200" cy="2578608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057400"/>
            <a:ext cx="27432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2128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2816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" y="3236976"/>
            <a:ext cx="2487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face 350M+ products with no intelligent guidance — most give up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4408" y="2057400"/>
            <a:ext cx="2743200" cy="2578608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2057400"/>
            <a:ext cx="27432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22128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64408" y="2816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92424" y="3236976"/>
            <a:ext cx="2487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personalisation, only 2–3% of visitors complete a purchase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08776" y="2057400"/>
            <a:ext cx="2743200" cy="2578608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2057400"/>
            <a:ext cx="27432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22128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08776" y="2816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36792" y="3236976"/>
            <a:ext cx="2487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5 products each user will enjoy using 3 different models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objective: select 5 new products per user — popularity-based, item-based, or user-based collaborative filtering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//  DATASET &amp; EXPLORATORY DATA ANALYSIS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18872" cy="1207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" y="1133856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93776" y="182880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82112" y="1005840"/>
            <a:ext cx="27432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1005840"/>
            <a:ext cx="118872" cy="1207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3401568" y="1133856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6,986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01568" y="182880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1005840"/>
            <a:ext cx="27432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1005840"/>
            <a:ext cx="118872" cy="1207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33856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8,569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27432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23160"/>
            <a:ext cx="118872" cy="1207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" y="2551176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4.19 / 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3776" y="32461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82112" y="2423160"/>
            <a:ext cx="27432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2423160"/>
            <a:ext cx="118872" cy="1207008"/>
          </a:xfrm>
          <a:prstGeom prst="rect">
            <a:avLst/>
          </a:prstGeom>
          <a:solidFill>
            <a:srgbClr val="C05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401568" y="2551176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401568" y="32461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(J-Curve)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9904" y="2423160"/>
            <a:ext cx="27432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423160"/>
            <a:ext cx="118872" cy="1207008"/>
          </a:xfrm>
          <a:prstGeom prst="rect">
            <a:avLst/>
          </a:prstGeom>
          <a:solidFill>
            <a:srgbClr val="0D6E4E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551176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309360" y="32461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Sparsity</a:t>
            </a:r>
            <a:endParaRPr lang="en-US" sz="1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274320" y="3913632"/>
          <a:ext cx="8595360" cy="11155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//  DATA PREPARATION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205740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109728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11556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671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pd.read_excel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× 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2048256"/>
            <a:ext cx="256032" cy="0"/>
          </a:xfrm>
          <a:prstGeom prst="line">
            <a:avLst/>
          </a:prstGeom>
          <a:noFill/>
          <a:ln w="3175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051560"/>
            <a:ext cx="1920240" cy="205740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11556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33472" y="1783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21671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99.97%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J-Curve bias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53712" y="2048256"/>
            <a:ext cx="256032" cy="0"/>
          </a:xfrm>
          <a:prstGeom prst="line">
            <a:avLst/>
          </a:prstGeom>
          <a:noFill/>
          <a:ln w="31750">
            <a:solidFill>
              <a:srgbClr val="2E86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9744" y="1051560"/>
            <a:ext cx="1920240" cy="205740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68112" y="109728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5468112" y="111556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09744" y="1783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01184" y="21671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ratings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9,300 rows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9984" y="2048256"/>
            <a:ext cx="256032" cy="0"/>
          </a:xfrm>
          <a:prstGeom prst="line">
            <a:avLst/>
          </a:prstGeom>
          <a:noFill/>
          <a:ln w="31750">
            <a:solidFill>
              <a:srgbClr val="2E86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6016" y="1051560"/>
            <a:ext cx="1920240" cy="2057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44384" y="109728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/>
          <p:nvPr/>
        </p:nvSpPr>
        <p:spPr>
          <a:xfrm>
            <a:off x="7644384" y="111556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86016" y="1783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77456" y="21671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2304 × 2274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273552"/>
            <a:ext cx="4315968" cy="1755648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383280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Explained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3749040"/>
            <a:ext cx="3950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sparsity = 1 - 20,000 / (6,986 × 8,569) = 99.97%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 of user-product cells are EMPTY. This justifies our ≥3 filter.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3273552"/>
          <a:ext cx="3995928" cy="1755648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25272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After ≥3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Reviews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20,000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9,300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Users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6,986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2,304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Products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8,569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2,274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D3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//  POPULARITY-BASED RECOMMENDER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cold-start — same top-5 for every user, based on Bayesian weighted score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4279392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72768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Average Rating?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with 1 review at 5★ would rank above a product with 500 reviews at 4.8★. The Bayesian formula corrects this.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Formula: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3913632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72384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(n/n+m)×avg + (m/n+m)×C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1246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n=reviews  |  m=5 threshold  |  C=4.19 global mean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user history required — cold-start safe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07408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Protects against fake review manipulation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0001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personalisation — same for everyone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444752"/>
            <a:ext cx="4005072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444752"/>
            <a:ext cx="4005072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149961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Top 5 Products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883664"/>
          <a:ext cx="3913632" cy="20574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987552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Bayesian Score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Reviews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#1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4.87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#2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4.82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#3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4.79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#4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4.76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#5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4.74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892040" y="4041648"/>
            <a:ext cx="3913632" cy="822960"/>
          </a:xfrm>
          <a:prstGeom prst="rect">
            <a:avLst/>
          </a:prstGeom>
          <a:solidFill>
            <a:srgbClr val="FEF9EC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0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use: show to new users on homepage.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0" y="4407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CF after 3+ ratings collected.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//  ITEM-BASED COLLABORATIVE FILTERING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original patented approach (2001) — products frequently rated alike are 'similar'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297680" cy="356616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819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Formula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3931920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574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sim(X,Y) = X·Y / (‖X‖ × ‖Y‖)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product = rating vector from all users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= different   →   1 = identical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Matrix: 2,274 × 2,274 product pairs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Pre-computed offline — instant serving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Amazon's patented production approach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33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Stable over time, scalable to millions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256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Needs rating history (cold-start issue)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4005072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581912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Logic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0" y="2011680"/>
            <a:ext cx="438912" cy="43891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029968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59552" y="2011680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59552" y="2249424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this user has already rated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0" y="2761488"/>
            <a:ext cx="438912" cy="43891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77977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59552" y="2761488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59552" y="2999232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unrated candidate products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0" y="3511296"/>
            <a:ext cx="438912" cy="43891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529584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559552" y="3511296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9552" y="3749040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cosine similarity to rated products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0" y="4261104"/>
            <a:ext cx="438912" cy="43891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4279392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559552" y="4261104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59552" y="4498848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 5 by score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//  USER-BASED COLLABORATIVE FILTERING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'rating twins' — recommend what similar users loved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761488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00200"/>
            <a:ext cx="2761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2249424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Similarity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651760"/>
            <a:ext cx="25420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2,304 × 2,304 matrix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user-user pairs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481328"/>
            <a:ext cx="2761488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18688" y="1600200"/>
            <a:ext cx="2761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18688" y="2249424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k=10 Neighbors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28416" y="2651760"/>
            <a:ext cx="25420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.drop(user_id) is crucial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self (sim=1.0)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1481328"/>
            <a:ext cx="2761488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1600200"/>
            <a:ext cx="2761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63056" y="2249424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Recommend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72784" y="2651760"/>
            <a:ext cx="25420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neighbour ratings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unseen products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913632"/>
            <a:ext cx="8595360" cy="109728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code: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3159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similar_users = user_sim_df[user_id].drop(</a:t>
            </a:r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).sort_values(ascending=False).head(10).index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= rating_matrix.loc[similar_users].mean(axis=0).drop(already_rated)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//  STREAMLIT APPLICATION — LIVE DEMO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92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personalised recommendations — runs locally in the browser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1920240" cy="233172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53619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554480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15184"/>
            <a:ext cx="1737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Popularity, Item-Based, or User-Based from the sidebar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481328"/>
            <a:ext cx="1920240" cy="233172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536192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554480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0592" y="22402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 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2615184"/>
            <a:ext cx="1737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UserID or click 'Random User' for automatic selection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481328"/>
            <a:ext cx="1920240" cy="233172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85232" y="1536192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5285232" y="1554480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26864" y="22402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2615184"/>
            <a:ext cx="1737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products already rated by this user with star ratings shown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1481328"/>
            <a:ext cx="1920240" cy="233172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61504" y="1536192"/>
            <a:ext cx="566928" cy="566928"/>
          </a:xfrm>
          <a:prstGeom prst="ellipse">
            <a:avLst/>
          </a:prstGeom>
          <a:solidFill>
            <a:srgbClr val="0D6E4E"/>
          </a:solidFill>
          <a:ln/>
        </p:spPr>
      </p:sp>
      <p:sp>
        <p:nvSpPr>
          <p:cNvPr id="22" name="Text 20"/>
          <p:cNvSpPr/>
          <p:nvPr/>
        </p:nvSpPr>
        <p:spPr>
          <a:xfrm>
            <a:off x="7461504" y="1554480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03136" y="22402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4576" y="2615184"/>
            <a:ext cx="1737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personalised recommendations with similarity scores — instant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77640"/>
            <a:ext cx="8595360" cy="59436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41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streamlit pandas numpy scikit-learn openpyxl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4041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  →  http://localhost:8501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645152"/>
          <a:ext cx="8595360" cy="950976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  <a:gridCol w="2194560"/>
              </a:tblGrid>
              <a:tr h="316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Popularity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3C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Item-Based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User-Based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Cold-start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✗ Needs history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✗ Needs history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Personalised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✗ 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//  MODEL COMPARISON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429000"/>
        </p:xfrm>
        <a:graphic>
          <a:graphicData uri="http://schemas.openxmlformats.org/drawingml/2006/table">
            <a:tbl>
              <a:tblPr/>
              <a:tblGrid>
                <a:gridCol w="2240280"/>
                <a:gridCol w="1828800"/>
                <a:gridCol w="2423160"/>
                <a:gridCol w="2103120"/>
              </a:tblGrid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🏆 Popularity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3C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🔗 Item-Based CF ⭐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👥 User-Based CF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Personalised?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✗ No — same for all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Cold-start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✓ Handles 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✗ Needs history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✗ Needs history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Scalability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✓ O(1) instant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✓ Pre-computed offline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⚠ O(n²) per new user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Sparsity Robust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✓ Not affected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⚠ Moderate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✗ Low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Serendipity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✗ Low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✓ High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Production Ready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✓ Yes (Amazon)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✗ Not at scale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4572000"/>
            <a:ext cx="118872" cy="438912"/>
          </a:xfrm>
          <a:prstGeom prst="rect">
            <a:avLst/>
          </a:prstGeom>
          <a:solidFill>
            <a:srgbClr val="0D6E4E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46268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strategy: Popularity for new users → Item-Based CF after 3+ ratings → User-Based CF for power users.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//  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251960" cy="10789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24128"/>
            <a:ext cx="530352" cy="107899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36245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11556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Strategy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48132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for 0–2 ratings → Item-CF after 3+ → User-CF for power users. Seamless cold-start.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4251960" cy="10789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22576"/>
            <a:ext cx="530352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266090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41401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Scoring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277977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rank by raw average. Weighted score resists fake reviews and small-sample bias.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621024"/>
            <a:ext cx="4251960" cy="10789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21024"/>
            <a:ext cx="530352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395935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371246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Engagement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407822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buyers are loyal. Personalised repurchase reminders drive repeat revenue.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73168" y="1024128"/>
            <a:ext cx="4251960" cy="10789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1024128"/>
            <a:ext cx="530352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791456" y="136245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111556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Reviews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48132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of users have only 1 rating. Post-purchase emails reduce sparsity significantly.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73168" y="2322576"/>
            <a:ext cx="4251960" cy="10789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2322576"/>
            <a:ext cx="530352" cy="1078992"/>
          </a:xfrm>
          <a:prstGeom prst="rect">
            <a:avLst/>
          </a:prstGeom>
          <a:solidFill>
            <a:srgbClr val="7D2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266090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241401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77977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5★ products with &lt;10 reviews for moderation before they pollute recommendations.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530352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984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Popularity-Based: Bayesian scoring solves cold-start — no user history needed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7510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Item-Based CF: cosine similarity pre-computed offline — Amazon's proven production approach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User-Based CF: .drop(user_id) is key — finds serendipitous recommendations via k=10 neighbours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3284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Streamlit app: real-time demo — enter any user ID → 3 models → 5 recommendations instantly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40050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Hybrid strategy + fraud detection = production-grade recommendation system for Amazon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MIR Otmane  •  SAVOYE Raphael  •  MOUMNI Youssef  —  Thank You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WOMAN SCIENTIST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Fei-Fei Li — Born 1976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627632"/>
            <a:ext cx="54864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7556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at Stanford University · Co-Director of the Human-Centered AI Institute (HAI) · Former Chief Scientist of AI/ML at Google Cloud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359152"/>
            <a:ext cx="8595360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48716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she is relevant to our project: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347472" cy="34747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62656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29443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(2009) — 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86000" y="2944368"/>
            <a:ext cx="6355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dataset of 14M labelled images that launched modern deep learning. Same principle as our project: learning patterns from large-scale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47472" cy="34747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93008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 — 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86000" y="3474720"/>
            <a:ext cx="6355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of learning user preferences from large datasets is directly analogous to her work — both rely on finding patterns in massive, sparse data.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347472" cy="34747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2336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4005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Humanity — 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286000" y="4005072"/>
            <a:ext cx="6355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research emphasises making AI beneficial and human-centred — exactly the goal of a good recommendation engine.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2026-03-22T10:05:38Z</dcterms:created>
  <dcterms:modified xsi:type="dcterms:W3CDTF">2026-03-22T10:05:38Z</dcterms:modified>
</cp:coreProperties>
</file>